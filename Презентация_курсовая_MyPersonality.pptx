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4"/>
  </p:normalViewPr>
  <p:slideViewPr>
    <p:cSldViewPr snapToGrid="0">
      <p:cViewPr varScale="1">
        <p:scale>
          <a:sx n="91" d="100"/>
          <a:sy n="91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41B476-84D7-4406-9B0D-89425C1A7C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FAE8328-6E56-4901-A2CA-EA61E9F30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7B9AA8-D378-4D2B-85DF-5B341DBFB89F}"/>
              </a:ext>
            </a:extLst>
          </p:cNvPr>
          <p:cNvSpPr>
            <a:spLocks noGrp="1"/>
          </p:cNvSpPr>
          <p:nvPr/>
        </p:nvSpPr>
        <p:spPr>
          <a:xfrm>
            <a:off x="4381500" y="800100"/>
            <a:ext cx="6858000" cy="51435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BED1EF-DC64-4B45-A041-78EA76942DCE}"/>
              </a:ext>
            </a:extLst>
          </p:cNvPr>
          <p:cNvSpPr>
            <a:spLocks noGrp="1"/>
          </p:cNvSpPr>
          <p:nvPr/>
        </p:nvSpPr>
        <p:spPr>
          <a:xfrm>
            <a:off x="857250" y="9144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КУРСОВАЯ РАБОТА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D29BDF-14F3-4456-B790-FD2E084DDCEB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2667000" cy="3143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Разработка</a:t>
            </a:r>
          </a:p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клиент-серверного</a:t>
            </a:r>
          </a:p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мобильного</a:t>
            </a:r>
          </a:p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приложения сервиса</a:t>
            </a:r>
          </a:p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подбора персонала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5E3E13-AA07-495E-8D79-86D5C9AA9347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2476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5F2"/>
                </a:solidFill>
                <a:latin typeface="Aptos"/>
                <a:ea typeface="Aptos"/>
                <a:cs typeface="Aptos"/>
              </a:rPr>
              <a:t>Kotlin • Jetpack Compose • Ktor • PostgreSQL Neon • Server Auth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3679" y="1028700"/>
            <a:ext cx="4653643" cy="36195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132319-0BE1-4F53-BF92-C693C99988C2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Мобильное приложение с двумя ролями: соискатель и работодатель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EAED1E-3D65-43BB-A389-E65EA7B71DA8}"/>
              </a:ext>
            </a:extLst>
          </p:cNvPr>
          <p:cNvSpPr>
            <a:spLocks noGrp="1"/>
          </p:cNvSpPr>
          <p:nvPr/>
        </p:nvSpPr>
        <p:spPr>
          <a:xfrm>
            <a:off x="4857750" y="5295900"/>
            <a:ext cx="590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В приложении реализованы регистрация и вход, поиск вакансий, избранное, отклики, управление вакансиями и удаленная база данных.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95D9C4-22AE-4340-806A-7DA2A006CA23}"/>
              </a:ext>
            </a:extLst>
          </p:cNvPr>
          <p:cNvSpPr>
            <a:spLocks noGrp="1"/>
          </p:cNvSpPr>
          <p:nvPr/>
        </p:nvSpPr>
        <p:spPr>
          <a:xfrm>
            <a:off x="285750" y="60769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Презентация</a:t>
            </a:r>
            <a:r>
              <a:rPr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к</a:t>
            </a:r>
            <a:r>
              <a:rPr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защите</a:t>
            </a:r>
            <a:r>
              <a:rPr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курсовой</a:t>
            </a:r>
            <a:r>
              <a:rPr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работы</a:t>
            </a:r>
            <a:r>
              <a:rPr lang="en-US"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– </a:t>
            </a:r>
            <a:r>
              <a:rPr lang="ru-RU" sz="9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Тур Кирилл – ИКБО-65-23</a:t>
            </a:r>
            <a:endParaRPr sz="900" b="0" dirty="0">
              <a:solidFill>
                <a:srgbClr val="51607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28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413468D-03E1-4823-B9CA-1541D20AC2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54AF17-9A2C-472D-946A-FF7D6FA2ED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7319F5-A51E-410F-9F14-2EC337AA7362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547958-9E03-4613-8D5D-544EED8D22F9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ВВЕДЕНИЕ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145C46-1589-402A-A709-EABFA2A2D95A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Актуальность, цель и задачи работы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B986CF0-3DAE-439B-AF82-019720F9DDEA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Проблематика проекта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966205-2716-4E63-8348-FA2E703F59DB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AB94E4F-041A-44C0-9C00-0FDFD753B350}"/>
              </a:ext>
            </a:extLst>
          </p:cNvPr>
          <p:cNvSpPr>
            <a:spLocks noGrp="1"/>
          </p:cNvSpPr>
          <p:nvPr/>
        </p:nvSpPr>
        <p:spPr>
          <a:xfrm>
            <a:off x="1028700" y="1295400"/>
            <a:ext cx="4857750" cy="45910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585FC00-0C2B-48A1-9AC6-E4BE017612EB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Почему тема актуальна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03A12C9-D3A2-4234-8CEB-99E59582B9C8}"/>
              </a:ext>
            </a:extLst>
          </p:cNvPr>
          <p:cNvSpPr>
            <a:spLocks noGrp="1"/>
          </p:cNvSpPr>
          <p:nvPr/>
        </p:nvSpPr>
        <p:spPr>
          <a:xfrm>
            <a:off x="1295400" y="2066925"/>
            <a:ext cx="95250" cy="95250"/>
          </a:xfrm>
          <a:prstGeom prst="ellipse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B1D7F0-6722-4F8E-B7E4-D774CDC67D89}"/>
              </a:ext>
            </a:extLst>
          </p:cNvPr>
          <p:cNvSpPr>
            <a:spLocks noGrp="1"/>
          </p:cNvSpPr>
          <p:nvPr/>
        </p:nvSpPr>
        <p:spPr>
          <a:xfrm>
            <a:off x="1485900" y="2000250"/>
            <a:ext cx="40576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Рынок труда требует быстрого цифрового взаимодействия между работодателем и соискателем.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8FF02D4-7031-4A80-86B4-951CF31830C5}"/>
              </a:ext>
            </a:extLst>
          </p:cNvPr>
          <p:cNvSpPr>
            <a:spLocks noGrp="1"/>
          </p:cNvSpPr>
          <p:nvPr/>
        </p:nvSpPr>
        <p:spPr>
          <a:xfrm>
            <a:off x="1295400" y="2676525"/>
            <a:ext cx="95250" cy="95250"/>
          </a:xfrm>
          <a:prstGeom prst="ellipse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460DB5-9841-484C-B549-7E2FDC686949}"/>
              </a:ext>
            </a:extLst>
          </p:cNvPr>
          <p:cNvSpPr>
            <a:spLocks noGrp="1"/>
          </p:cNvSpPr>
          <p:nvPr/>
        </p:nvSpPr>
        <p:spPr>
          <a:xfrm>
            <a:off x="1485900" y="2609850"/>
            <a:ext cx="40576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Пользователи ожидают от мобильного приложения удобный UI, поиск, отклики и удаленное хранение данных.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DD40F8F-6C0C-4C24-8D31-7A8526FA8580}"/>
              </a:ext>
            </a:extLst>
          </p:cNvPr>
          <p:cNvSpPr>
            <a:spLocks noGrp="1"/>
          </p:cNvSpPr>
          <p:nvPr/>
        </p:nvSpPr>
        <p:spPr>
          <a:xfrm>
            <a:off x="1295400" y="3286125"/>
            <a:ext cx="95250" cy="95250"/>
          </a:xfrm>
          <a:prstGeom prst="ellipse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254EF-4D7A-4F04-BED9-5214BDCE110A}"/>
              </a:ext>
            </a:extLst>
          </p:cNvPr>
          <p:cNvSpPr>
            <a:spLocks noGrp="1"/>
          </p:cNvSpPr>
          <p:nvPr/>
        </p:nvSpPr>
        <p:spPr>
          <a:xfrm>
            <a:off x="1485900" y="3219450"/>
            <a:ext cx="40576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Для учебной задачи важно реализовать не только клиент, но и собственный сервер с удаленной БД.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95B14B-76B8-4CE0-90E1-C88B7A02C0B0}"/>
              </a:ext>
            </a:extLst>
          </p:cNvPr>
          <p:cNvSpPr>
            <a:spLocks noGrp="1"/>
          </p:cNvSpPr>
          <p:nvPr/>
        </p:nvSpPr>
        <p:spPr>
          <a:xfrm>
            <a:off x="6153150" y="1295400"/>
            <a:ext cx="5010150" cy="209550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367F1C-3E69-4CFA-A0D9-71C0A70E9CE3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4552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Цель работы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878A6A1-3A36-4B99-AE77-BDE64C09618E}"/>
              </a:ext>
            </a:extLst>
          </p:cNvPr>
          <p:cNvSpPr>
            <a:spLocks noGrp="1"/>
          </p:cNvSpPr>
          <p:nvPr/>
        </p:nvSpPr>
        <p:spPr>
          <a:xfrm>
            <a:off x="6381750" y="1943100"/>
            <a:ext cx="44005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Разработать клиент-серверное мобильное приложение сервиса подбора персонала для Android с авторизацией, разграничением ролей, поиском вакансий, откликами и собственным Ktor-сервером.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A0C99EE-F285-45CE-8958-8EABACCB2302}"/>
              </a:ext>
            </a:extLst>
          </p:cNvPr>
          <p:cNvSpPr>
            <a:spLocks noGrp="1"/>
          </p:cNvSpPr>
          <p:nvPr/>
        </p:nvSpPr>
        <p:spPr>
          <a:xfrm>
            <a:off x="6153150" y="3676650"/>
            <a:ext cx="1524000" cy="1047750"/>
          </a:xfrm>
          <a:prstGeom prst="rect">
            <a:avLst/>
          </a:prstGeom>
          <a:solidFill>
            <a:srgbClr val="DDEFE5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786B863-B02D-4141-8EA0-DD91534F3440}"/>
              </a:ext>
            </a:extLst>
          </p:cNvPr>
          <p:cNvSpPr>
            <a:spLocks noGrp="1"/>
          </p:cNvSpPr>
          <p:nvPr/>
        </p:nvSpPr>
        <p:spPr>
          <a:xfrm>
            <a:off x="6324600" y="384810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C6C7E8F-B248-49EA-9551-59C1FF4BB4EC}"/>
              </a:ext>
            </a:extLst>
          </p:cNvPr>
          <p:cNvSpPr>
            <a:spLocks noGrp="1"/>
          </p:cNvSpPr>
          <p:nvPr/>
        </p:nvSpPr>
        <p:spPr>
          <a:xfrm>
            <a:off x="6324600" y="422910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роли</a:t>
            </a:r>
          </a:p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пользователей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F0A7954-1C87-4DEC-BBA4-B88585E8331E}"/>
              </a:ext>
            </a:extLst>
          </p:cNvPr>
          <p:cNvSpPr>
            <a:spLocks noGrp="1"/>
          </p:cNvSpPr>
          <p:nvPr/>
        </p:nvSpPr>
        <p:spPr>
          <a:xfrm>
            <a:off x="7896225" y="3676650"/>
            <a:ext cx="1524000" cy="1047750"/>
          </a:xfrm>
          <a:prstGeom prst="rect">
            <a:avLst/>
          </a:prstGeom>
          <a:solidFill>
            <a:srgbClr val="F5E9CF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E70E94E-091A-4FF1-B267-CA04DE81C6F0}"/>
              </a:ext>
            </a:extLst>
          </p:cNvPr>
          <p:cNvSpPr>
            <a:spLocks noGrp="1"/>
          </p:cNvSpPr>
          <p:nvPr/>
        </p:nvSpPr>
        <p:spPr>
          <a:xfrm>
            <a:off x="8067675" y="384810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5+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058A22D-027F-4FD3-8696-19EFB368474D}"/>
              </a:ext>
            </a:extLst>
          </p:cNvPr>
          <p:cNvSpPr>
            <a:spLocks noGrp="1"/>
          </p:cNvSpPr>
          <p:nvPr/>
        </p:nvSpPr>
        <p:spPr>
          <a:xfrm>
            <a:off x="8067675" y="422910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ключевых</a:t>
            </a:r>
          </a:p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сценариев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FBAB877-0AAB-42F0-ACED-61381510BA28}"/>
              </a:ext>
            </a:extLst>
          </p:cNvPr>
          <p:cNvSpPr>
            <a:spLocks noGrp="1"/>
          </p:cNvSpPr>
          <p:nvPr/>
        </p:nvSpPr>
        <p:spPr>
          <a:xfrm>
            <a:off x="9639300" y="3676650"/>
            <a:ext cx="1524000" cy="1047750"/>
          </a:xfrm>
          <a:prstGeom prst="rect">
            <a:avLst/>
          </a:prstGeom>
          <a:solidFill>
            <a:srgbClr val="DCE5F2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BAE4136-AB24-4DD7-B820-F7B79400AADD}"/>
              </a:ext>
            </a:extLst>
          </p:cNvPr>
          <p:cNvSpPr>
            <a:spLocks noGrp="1"/>
          </p:cNvSpPr>
          <p:nvPr/>
        </p:nvSpPr>
        <p:spPr>
          <a:xfrm>
            <a:off x="9810750" y="384810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853BFB1-F9E0-4FE3-85C6-51DBEB68DC2F}"/>
              </a:ext>
            </a:extLst>
          </p:cNvPr>
          <p:cNvSpPr>
            <a:spLocks noGrp="1"/>
          </p:cNvSpPr>
          <p:nvPr/>
        </p:nvSpPr>
        <p:spPr>
          <a:xfrm>
            <a:off x="9810750" y="422910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код</a:t>
            </a:r>
          </a:p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на Kotlin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648F844-D853-414A-AEDC-D51AABFFBC31}"/>
              </a:ext>
            </a:extLst>
          </p:cNvPr>
          <p:cNvSpPr>
            <a:spLocks noGrp="1"/>
          </p:cNvSpPr>
          <p:nvPr/>
        </p:nvSpPr>
        <p:spPr>
          <a:xfrm>
            <a:off x="6153150" y="4991100"/>
            <a:ext cx="5010150" cy="8953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1809FF6-83D2-491E-A0D9-A1E89B000B0D}"/>
              </a:ext>
            </a:extLst>
          </p:cNvPr>
          <p:cNvSpPr>
            <a:spLocks noGrp="1"/>
          </p:cNvSpPr>
          <p:nvPr/>
        </p:nvSpPr>
        <p:spPr>
          <a:xfrm>
            <a:off x="6381750" y="5200650"/>
            <a:ext cx="4552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Основные задачи: анализ предметной области, проектирование архитектуры и БД, реализация клиента и сервера, тестирование и подготовка к защите.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4A891F4-E2FD-405D-AEBF-3C1726365C77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63339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EA3EB0F-D296-462C-92E1-B26CE0A56F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ABED1B-9FD0-4D79-A6AD-BD7B32FF50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CAA9D93-45F0-4AC5-BE5D-1E2B2C411998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C16658-0FF4-4C34-BC94-59DEBE5AEEF4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ПРОЕКТИРОВАНИЕ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6B955C-C94B-4840-A3EE-C481546D141D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Требования и выбранный стек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7F69BE0-4C29-45DB-BBCF-B8087393540E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Технологическая база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02860F-97FC-4F03-901E-77E4BCF5173E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173EEE-C711-415E-BC0E-BC624E06A0D0}"/>
              </a:ext>
            </a:extLst>
          </p:cNvPr>
          <p:cNvSpPr>
            <a:spLocks noGrp="1"/>
          </p:cNvSpPr>
          <p:nvPr/>
        </p:nvSpPr>
        <p:spPr>
          <a:xfrm>
            <a:off x="1028700" y="1314450"/>
            <a:ext cx="1714500" cy="304800"/>
          </a:xfrm>
          <a:prstGeom prst="rect">
            <a:avLst/>
          </a:prstGeom>
          <a:solidFill>
            <a:srgbClr val="F0E8F6"/>
          </a:solidFill>
          <a:ln w="14288">
            <a:solidFill>
              <a:srgbClr val="213F6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2F47AC-DF6D-4CF3-A30F-C4AFFC8246B5}"/>
              </a:ext>
            </a:extLst>
          </p:cNvPr>
          <p:cNvSpPr>
            <a:spLocks noGrp="1"/>
          </p:cNvSpPr>
          <p:nvPr/>
        </p:nvSpPr>
        <p:spPr>
          <a:xfrm>
            <a:off x="1028700" y="1371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Приоритеты ТЗ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AC8BA1D-205B-451A-9A6D-D225CFB90488}"/>
              </a:ext>
            </a:extLst>
          </p:cNvPr>
          <p:cNvSpPr>
            <a:spLocks noGrp="1"/>
          </p:cNvSpPr>
          <p:nvPr/>
        </p:nvSpPr>
        <p:spPr>
          <a:xfrm>
            <a:off x="5086350" y="1314450"/>
            <a:ext cx="1714500" cy="304800"/>
          </a:xfrm>
          <a:prstGeom prst="rect">
            <a:avLst/>
          </a:prstGeom>
          <a:solidFill>
            <a:srgbClr val="F0E8F6"/>
          </a:solidFill>
          <a:ln w="14288">
            <a:solidFill>
              <a:srgbClr val="213F6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5CA9FC-08C6-4D77-BC59-0523683349D6}"/>
              </a:ext>
            </a:extLst>
          </p:cNvPr>
          <p:cNvSpPr>
            <a:spLocks noGrp="1"/>
          </p:cNvSpPr>
          <p:nvPr/>
        </p:nvSpPr>
        <p:spPr>
          <a:xfrm>
            <a:off x="5086350" y="1371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Реализация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5B3A0E4-CFC8-4ADE-9277-3C5DAAFC0471}"/>
              </a:ext>
            </a:extLst>
          </p:cNvPr>
          <p:cNvSpPr>
            <a:spLocks noGrp="1"/>
          </p:cNvSpPr>
          <p:nvPr/>
        </p:nvSpPr>
        <p:spPr>
          <a:xfrm>
            <a:off x="1028700" y="1790700"/>
            <a:ext cx="3048000" cy="17907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B8123A5-8977-4CAE-AEBC-9545F4CF2272}"/>
              </a:ext>
            </a:extLst>
          </p:cNvPr>
          <p:cNvSpPr>
            <a:spLocks noGrp="1"/>
          </p:cNvSpPr>
          <p:nvPr/>
        </p:nvSpPr>
        <p:spPr>
          <a:xfrm>
            <a:off x="1200150" y="194310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Сервер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462E81C-57DE-45B1-833B-C7F24A643B35}"/>
              </a:ext>
            </a:extLst>
          </p:cNvPr>
          <p:cNvSpPr>
            <a:spLocks noGrp="1"/>
          </p:cNvSpPr>
          <p:nvPr/>
        </p:nvSpPr>
        <p:spPr>
          <a:xfrm>
            <a:off x="1200150" y="2324100"/>
            <a:ext cx="2667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Ktor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REST API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Exposed + HikariCP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JWT / серверная логика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164A15-322D-460A-B60A-AFA5AAE6AFA8}"/>
              </a:ext>
            </a:extLst>
          </p:cNvPr>
          <p:cNvSpPr>
            <a:spLocks noGrp="1"/>
          </p:cNvSpPr>
          <p:nvPr/>
        </p:nvSpPr>
        <p:spPr>
          <a:xfrm>
            <a:off x="4400550" y="1790700"/>
            <a:ext cx="3048000" cy="179070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A0C7B3B-2227-4E6E-B9F6-ED921E3D56B5}"/>
              </a:ext>
            </a:extLst>
          </p:cNvPr>
          <p:cNvSpPr>
            <a:spLocks noGrp="1"/>
          </p:cNvSpPr>
          <p:nvPr/>
        </p:nvSpPr>
        <p:spPr>
          <a:xfrm>
            <a:off x="4572000" y="194310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Клиент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2B047B2-2B5A-4475-8801-52014A7015A5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2667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Jetpack Compose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Navigation Compose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Retrofit + OkHttp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Material 3 UI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37238AC-7F2D-4C34-BBC8-D6CD3CA42AB6}"/>
              </a:ext>
            </a:extLst>
          </p:cNvPr>
          <p:cNvSpPr>
            <a:spLocks noGrp="1"/>
          </p:cNvSpPr>
          <p:nvPr/>
        </p:nvSpPr>
        <p:spPr>
          <a:xfrm>
            <a:off x="7772400" y="1790700"/>
            <a:ext cx="3048000" cy="1790700"/>
          </a:xfrm>
          <a:prstGeom prst="rect">
            <a:avLst/>
          </a:prstGeom>
          <a:solidFill>
            <a:srgbClr val="DDEFE5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EAB11DF-F7AC-4FFE-92A8-F3A7A8C01E09}"/>
              </a:ext>
            </a:extLst>
          </p:cNvPr>
          <p:cNvSpPr>
            <a:spLocks noGrp="1"/>
          </p:cNvSpPr>
          <p:nvPr/>
        </p:nvSpPr>
        <p:spPr>
          <a:xfrm>
            <a:off x="7943850" y="194310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Инфраструктура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CAA1B49-5ABC-4DBE-AE38-676DD5ED0226}"/>
              </a:ext>
            </a:extLst>
          </p:cNvPr>
          <p:cNvSpPr>
            <a:spLocks noGrp="1"/>
          </p:cNvSpPr>
          <p:nvPr/>
        </p:nvSpPr>
        <p:spPr>
          <a:xfrm>
            <a:off x="7943850" y="2324100"/>
            <a:ext cx="2667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Server Auth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PostgreSQL Neon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Hilt DI</a:t>
            </a:r>
          </a:p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Unit + UI tests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829115C-CE4B-427D-AD6B-106999BE5234}"/>
              </a:ext>
            </a:extLst>
          </p:cNvPr>
          <p:cNvSpPr>
            <a:spLocks noGrp="1"/>
          </p:cNvSpPr>
          <p:nvPr/>
        </p:nvSpPr>
        <p:spPr>
          <a:xfrm>
            <a:off x="1028700" y="3943350"/>
            <a:ext cx="10134600" cy="16954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FF9B01D-587F-4098-B134-5BCC5CF139AE}"/>
              </a:ext>
            </a:extLst>
          </p:cNvPr>
          <p:cNvSpPr>
            <a:spLocks noGrp="1"/>
          </p:cNvSpPr>
          <p:nvPr/>
        </p:nvSpPr>
        <p:spPr>
          <a:xfrm>
            <a:off x="1257300" y="4171950"/>
            <a:ext cx="971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Ключевые требования, закрытые в проекте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8F02D2-A5F7-40DA-9C4C-B860BF08EDBE}"/>
              </a:ext>
            </a:extLst>
          </p:cNvPr>
          <p:cNvSpPr>
            <a:spLocks noGrp="1"/>
          </p:cNvSpPr>
          <p:nvPr/>
        </p:nvSpPr>
        <p:spPr>
          <a:xfrm>
            <a:off x="1352550" y="4610100"/>
            <a:ext cx="419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авторизация и аутентификация пользователей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C49CF29-7AE2-44CA-AEEB-E47D20F770F3}"/>
              </a:ext>
            </a:extLst>
          </p:cNvPr>
          <p:cNvSpPr>
            <a:spLocks noGrp="1"/>
          </p:cNvSpPr>
          <p:nvPr/>
        </p:nvSpPr>
        <p:spPr>
          <a:xfrm>
            <a:off x="1352550" y="4895850"/>
            <a:ext cx="419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удаленная база данных и собственный сервер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7DCA21B-EEB6-42FF-B9C2-5874EDB90708}"/>
              </a:ext>
            </a:extLst>
          </p:cNvPr>
          <p:cNvSpPr>
            <a:spLocks noGrp="1"/>
          </p:cNvSpPr>
          <p:nvPr/>
        </p:nvSpPr>
        <p:spPr>
          <a:xfrm>
            <a:off x="1352550" y="5181600"/>
            <a:ext cx="419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навигация и вменяемый русскоязычный UI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34D2812-B163-4F94-8CF2-60D28A696666}"/>
              </a:ext>
            </a:extLst>
          </p:cNvPr>
          <p:cNvSpPr>
            <a:spLocks noGrp="1"/>
          </p:cNvSpPr>
          <p:nvPr/>
        </p:nvSpPr>
        <p:spPr>
          <a:xfrm>
            <a:off x="5886450" y="46101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Clean Architecture и разделение слоев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C6D1908-F27E-4F65-B34B-2B3E44BE3F77}"/>
              </a:ext>
            </a:extLst>
          </p:cNvPr>
          <p:cNvSpPr>
            <a:spLocks noGrp="1"/>
          </p:cNvSpPr>
          <p:nvPr/>
        </p:nvSpPr>
        <p:spPr>
          <a:xfrm>
            <a:off x="5886450" y="48958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внедрение зависимостей через Hilt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EDB1ED2-CE81-42D4-A21B-E202DE7F368B}"/>
              </a:ext>
            </a:extLst>
          </p:cNvPr>
          <p:cNvSpPr>
            <a:spLocks noGrp="1"/>
          </p:cNvSpPr>
          <p:nvPr/>
        </p:nvSpPr>
        <p:spPr>
          <a:xfrm>
            <a:off x="5886450" y="51816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модульные и UI-тесты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7C7E2A0-D633-49E6-AC32-8B551C5BD0A6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135696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1BBA04-3DBA-464A-A292-5F4B8BDEE4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88CC20-993B-4BA1-8186-A0910DD04A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ADE092-15B5-4D03-A0C7-30341970B8A9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5476D2-3A0E-49CE-A0FE-95FA6DE0430B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ПРОЕКТИРОВАНИЕ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E6DF21-5649-482F-B266-BDB0F46A0312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Роли пользователей и ключевые сценарии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B8E065-096F-4C9F-A2A9-A76153B79F30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Use case модели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1CA862-DA9B-4BCF-8A83-1FB2066DEB80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FEEDA3-9AC3-422E-A281-66423A1FAAA4}"/>
              </a:ext>
            </a:extLst>
          </p:cNvPr>
          <p:cNvSpPr>
            <a:spLocks noGrp="1"/>
          </p:cNvSpPr>
          <p:nvPr/>
        </p:nvSpPr>
        <p:spPr>
          <a:xfrm>
            <a:off x="1028700" y="1295400"/>
            <a:ext cx="3905250" cy="45910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F021E1-9448-492F-9CDE-2F75D3CCB016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Соискатель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8C5254A-AEB5-4F24-B9A9-B89F9C21EF02}"/>
              </a:ext>
            </a:extLst>
          </p:cNvPr>
          <p:cNvSpPr>
            <a:spLocks noGrp="1"/>
          </p:cNvSpPr>
          <p:nvPr/>
        </p:nvSpPr>
        <p:spPr>
          <a:xfrm>
            <a:off x="1314450" y="196215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Регистрация и вход в приложение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422332-7239-4476-91B7-3BEADDD14F86}"/>
              </a:ext>
            </a:extLst>
          </p:cNvPr>
          <p:cNvSpPr>
            <a:spLocks noGrp="1"/>
          </p:cNvSpPr>
          <p:nvPr/>
        </p:nvSpPr>
        <p:spPr>
          <a:xfrm>
            <a:off x="1314450" y="23622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Поиск вакансий по запросу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7B77AAA-8021-460A-8E75-8E25C9245936}"/>
              </a:ext>
            </a:extLst>
          </p:cNvPr>
          <p:cNvSpPr>
            <a:spLocks noGrp="1"/>
          </p:cNvSpPr>
          <p:nvPr/>
        </p:nvSpPr>
        <p:spPr>
          <a:xfrm>
            <a:off x="1314450" y="276225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Просмотр карточки вакансии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BCD0DD-CF46-4E1C-AF59-F44B3A6231B2}"/>
              </a:ext>
            </a:extLst>
          </p:cNvPr>
          <p:cNvSpPr>
            <a:spLocks noGrp="1"/>
          </p:cNvSpPr>
          <p:nvPr/>
        </p:nvSpPr>
        <p:spPr>
          <a:xfrm>
            <a:off x="1314450" y="31623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Добавление в избранное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6300FC7-08DA-431F-B54C-F2A12E73076F}"/>
              </a:ext>
            </a:extLst>
          </p:cNvPr>
          <p:cNvSpPr>
            <a:spLocks noGrp="1"/>
          </p:cNvSpPr>
          <p:nvPr/>
        </p:nvSpPr>
        <p:spPr>
          <a:xfrm>
            <a:off x="1314450" y="356235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Отправка отклика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0CB6504-89EF-4CAC-91E7-B608AD211D6F}"/>
              </a:ext>
            </a:extLst>
          </p:cNvPr>
          <p:cNvSpPr>
            <a:spLocks noGrp="1"/>
          </p:cNvSpPr>
          <p:nvPr/>
        </p:nvSpPr>
        <p:spPr>
          <a:xfrm>
            <a:off x="1314450" y="39624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Просмотр своих откликов в профиле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22A869-0E0B-4835-A9C7-701FCDF61911}"/>
              </a:ext>
            </a:extLst>
          </p:cNvPr>
          <p:cNvSpPr>
            <a:spLocks noGrp="1"/>
          </p:cNvSpPr>
          <p:nvPr/>
        </p:nvSpPr>
        <p:spPr>
          <a:xfrm>
            <a:off x="1257300" y="43815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Работодатель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72E9394-12C2-464F-9767-98152D6E3BE7}"/>
              </a:ext>
            </a:extLst>
          </p:cNvPr>
          <p:cNvSpPr>
            <a:spLocks noGrp="1"/>
          </p:cNvSpPr>
          <p:nvPr/>
        </p:nvSpPr>
        <p:spPr>
          <a:xfrm>
            <a:off x="1314450" y="476250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Регистрация с выбором роли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179C1E6-4077-4887-9441-8E91686F2AE6}"/>
              </a:ext>
            </a:extLst>
          </p:cNvPr>
          <p:cNvSpPr>
            <a:spLocks noGrp="1"/>
          </p:cNvSpPr>
          <p:nvPr/>
        </p:nvSpPr>
        <p:spPr>
          <a:xfrm>
            <a:off x="1314450" y="502920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Создание вакансий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B018A-C1C3-439A-ABB9-A29798DF37BE}"/>
              </a:ext>
            </a:extLst>
          </p:cNvPr>
          <p:cNvSpPr>
            <a:spLocks noGrp="1"/>
          </p:cNvSpPr>
          <p:nvPr/>
        </p:nvSpPr>
        <p:spPr>
          <a:xfrm>
            <a:off x="1314450" y="529590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Редактирование и удаление вакансий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3C0FA9B-2556-46E8-AC36-429D02F4B7AF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Просмотр откликов кандидатов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0521FD-9D21-4958-A9BF-4090CA62084C}"/>
              </a:ext>
            </a:extLst>
          </p:cNvPr>
          <p:cNvSpPr>
            <a:spLocks noGrp="1"/>
          </p:cNvSpPr>
          <p:nvPr/>
        </p:nvSpPr>
        <p:spPr>
          <a:xfrm>
            <a:off x="5200650" y="1295400"/>
            <a:ext cx="5962650" cy="45910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DAF3519-F835-4123-B81C-95DFD77F0170}"/>
              </a:ext>
            </a:extLst>
          </p:cNvPr>
          <p:cNvSpPr>
            <a:spLocks noGrp="1"/>
          </p:cNvSpPr>
          <p:nvPr/>
        </p:nvSpPr>
        <p:spPr>
          <a:xfrm>
            <a:off x="5334000" y="5600700"/>
            <a:ext cx="5695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Диаграмма вариантов использования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95900" y="1663303"/>
            <a:ext cx="5772150" cy="3607594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54D082-003E-4280-9538-BFA5477FB0A4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127999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3CC65BC-8EA5-4D5F-B030-E663ED540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187989-464F-41CA-962A-ECF7F39C36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DC86E6-F3A5-4A04-AF26-C247BA60429F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84428A-CCB7-46D6-A6D4-02914FC7F3FB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РАЗРАБОТКА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E68992-8803-45C1-A820-0499F62095D2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Архитектура решения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32722B-736E-4FD1-8351-CF749C02ACD7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Клиент + сервер + 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02D87D-3EF2-4638-B976-D33DB21F23CC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CF8301-82DD-49C6-ABDA-306309E2C462}"/>
              </a:ext>
            </a:extLst>
          </p:cNvPr>
          <p:cNvSpPr>
            <a:spLocks noGrp="1"/>
          </p:cNvSpPr>
          <p:nvPr/>
        </p:nvSpPr>
        <p:spPr>
          <a:xfrm>
            <a:off x="1028700" y="1333500"/>
            <a:ext cx="1714500" cy="304800"/>
          </a:xfrm>
          <a:prstGeom prst="rect">
            <a:avLst/>
          </a:prstGeom>
          <a:solidFill>
            <a:srgbClr val="F0E8F6"/>
          </a:solidFill>
          <a:ln w="14288">
            <a:solidFill>
              <a:srgbClr val="213F6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467CE5-9A04-40C0-AE48-92AF38B96654}"/>
              </a:ext>
            </a:extLst>
          </p:cNvPr>
          <p:cNvSpPr>
            <a:spLocks noGrp="1"/>
          </p:cNvSpPr>
          <p:nvPr/>
        </p:nvSpPr>
        <p:spPr>
          <a:xfrm>
            <a:off x="1028700" y="1390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Слои клиента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2E29B9D-4CDF-41FA-8991-8F7689DAC6FE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1714500" cy="304800"/>
          </a:xfrm>
          <a:prstGeom prst="rect">
            <a:avLst/>
          </a:prstGeom>
          <a:solidFill>
            <a:srgbClr val="F0E8F6"/>
          </a:solidFill>
          <a:ln w="14288">
            <a:solidFill>
              <a:srgbClr val="213F6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5E0FCAF-1575-49D1-B4CB-C1867BABB0CD}"/>
              </a:ext>
            </a:extLst>
          </p:cNvPr>
          <p:cNvSpPr>
            <a:spLocks noGrp="1"/>
          </p:cNvSpPr>
          <p:nvPr/>
        </p:nvSpPr>
        <p:spPr>
          <a:xfrm>
            <a:off x="6286500" y="1390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Общий процесс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48A219A-991C-4F61-B213-75DAB13E5A1A}"/>
              </a:ext>
            </a:extLst>
          </p:cNvPr>
          <p:cNvSpPr>
            <a:spLocks noGrp="1"/>
          </p:cNvSpPr>
          <p:nvPr/>
        </p:nvSpPr>
        <p:spPr>
          <a:xfrm>
            <a:off x="1028700" y="1790700"/>
            <a:ext cx="4686300" cy="40957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C12BAAD-8DA3-4F59-A716-D46D0C32D375}"/>
              </a:ext>
            </a:extLst>
          </p:cNvPr>
          <p:cNvSpPr>
            <a:spLocks noGrp="1"/>
          </p:cNvSpPr>
          <p:nvPr/>
        </p:nvSpPr>
        <p:spPr>
          <a:xfrm>
            <a:off x="1314450" y="2038350"/>
            <a:ext cx="4114800" cy="876300"/>
          </a:xfrm>
          <a:prstGeom prst="rect">
            <a:avLst/>
          </a:prstGeom>
          <a:solidFill>
            <a:srgbClr val="DCE5F2"/>
          </a:solidFill>
          <a:ln w="14288">
            <a:solidFill>
              <a:srgbClr val="35527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8CA9C58-DF36-4818-9D77-BC6CF897E1BB}"/>
              </a:ext>
            </a:extLst>
          </p:cNvPr>
          <p:cNvSpPr>
            <a:spLocks noGrp="1"/>
          </p:cNvSpPr>
          <p:nvPr/>
        </p:nvSpPr>
        <p:spPr>
          <a:xfrm>
            <a:off x="1504950" y="2190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Presentation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FDE2587-C467-426F-8E68-2560778BCB69}"/>
              </a:ext>
            </a:extLst>
          </p:cNvPr>
          <p:cNvSpPr>
            <a:spLocks noGrp="1"/>
          </p:cNvSpPr>
          <p:nvPr/>
        </p:nvSpPr>
        <p:spPr>
          <a:xfrm>
            <a:off x="1504950" y="2476500"/>
            <a:ext cx="3600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Compose UI, ViewModel, state, navigation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B27CBC-801C-4DE8-8007-929334691BE2}"/>
              </a:ext>
            </a:extLst>
          </p:cNvPr>
          <p:cNvSpPr>
            <a:spLocks noGrp="1"/>
          </p:cNvSpPr>
          <p:nvPr/>
        </p:nvSpPr>
        <p:spPr>
          <a:xfrm>
            <a:off x="1314450" y="3238500"/>
            <a:ext cx="4114800" cy="876300"/>
          </a:xfrm>
          <a:prstGeom prst="rect">
            <a:avLst/>
          </a:prstGeom>
          <a:solidFill>
            <a:srgbClr val="F0E8F6"/>
          </a:solidFill>
          <a:ln w="14288">
            <a:solidFill>
              <a:srgbClr val="35527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BB0DA3-380C-4472-8FEC-280DF0BE0FE4}"/>
              </a:ext>
            </a:extLst>
          </p:cNvPr>
          <p:cNvSpPr>
            <a:spLocks noGrp="1"/>
          </p:cNvSpPr>
          <p:nvPr/>
        </p:nvSpPr>
        <p:spPr>
          <a:xfrm>
            <a:off x="1504950" y="33909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Domain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7C7EA57-5460-4FFC-8441-B6A8E61F4223}"/>
              </a:ext>
            </a:extLst>
          </p:cNvPr>
          <p:cNvSpPr>
            <a:spLocks noGrp="1"/>
          </p:cNvSpPr>
          <p:nvPr/>
        </p:nvSpPr>
        <p:spPr>
          <a:xfrm>
            <a:off x="1504950" y="3676650"/>
            <a:ext cx="3600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модели, use case, правила предметной области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FC19F14-6243-4EEB-BEA7-040A68330767}"/>
              </a:ext>
            </a:extLst>
          </p:cNvPr>
          <p:cNvSpPr>
            <a:spLocks noGrp="1"/>
          </p:cNvSpPr>
          <p:nvPr/>
        </p:nvSpPr>
        <p:spPr>
          <a:xfrm>
            <a:off x="1314450" y="4438650"/>
            <a:ext cx="4114800" cy="876300"/>
          </a:xfrm>
          <a:prstGeom prst="rect">
            <a:avLst/>
          </a:prstGeom>
          <a:solidFill>
            <a:srgbClr val="DDEFE5"/>
          </a:solidFill>
          <a:ln w="14288">
            <a:solidFill>
              <a:srgbClr val="35527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7F64E9-C0BD-496D-9B79-D7DE8471B7D0}"/>
              </a:ext>
            </a:extLst>
          </p:cNvPr>
          <p:cNvSpPr>
            <a:spLocks noGrp="1"/>
          </p:cNvSpPr>
          <p:nvPr/>
        </p:nvSpPr>
        <p:spPr>
          <a:xfrm>
            <a:off x="1504950" y="4591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A706D0B-2EE9-4B78-9C77-D4611706CEA4}"/>
              </a:ext>
            </a:extLst>
          </p:cNvPr>
          <p:cNvSpPr>
            <a:spLocks noGrp="1"/>
          </p:cNvSpPr>
          <p:nvPr/>
        </p:nvSpPr>
        <p:spPr>
          <a:xfrm>
            <a:off x="1504950" y="4876800"/>
            <a:ext cx="3600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Retrofit API, auth repository, DataStore, session storage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EF4351C-D3E6-460D-83F6-7AC226E37551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181600" cy="40957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07228AE-54E4-40CD-A521-BFD5E38113CA}"/>
              </a:ext>
            </a:extLst>
          </p:cNvPr>
          <p:cNvSpPr>
            <a:spLocks noGrp="1"/>
          </p:cNvSpPr>
          <p:nvPr/>
        </p:nvSpPr>
        <p:spPr>
          <a:xfrm>
            <a:off x="6115050" y="5600700"/>
            <a:ext cx="491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IDEF0 основного процесса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6950" y="2311003"/>
            <a:ext cx="4991100" cy="2807494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32A3D51-C5F8-4077-A331-E944638D90E1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92778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E867480-CC5F-40C8-BE56-8269DC1BA3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BE2B5F-AB6F-439D-B4AF-FA217C9550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BCF459-1635-413C-9CAC-E78BDAE323CB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2D6136-2372-42E9-A69B-C9AE75D281FD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РАЗРАБОТКА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32AED7-3FBB-45C5-ABB4-B2A76BB10CD5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Модель данных и интеграция Client / Ktor / Neon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D1DBEA-E6CD-4354-B675-DCB4B2BCB146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Серверная часть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7CEC97-5340-4359-855C-1C02A0501753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27D2FD-019B-4BBA-8DF9-C3C1151F8D38}"/>
              </a:ext>
            </a:extLst>
          </p:cNvPr>
          <p:cNvSpPr>
            <a:spLocks noGrp="1"/>
          </p:cNvSpPr>
          <p:nvPr/>
        </p:nvSpPr>
        <p:spPr>
          <a:xfrm>
            <a:off x="1028700" y="1371600"/>
            <a:ext cx="4953000" cy="44577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8530787-B03E-4244-9A7C-734AB2E17E40}"/>
              </a:ext>
            </a:extLst>
          </p:cNvPr>
          <p:cNvSpPr>
            <a:spLocks noGrp="1"/>
          </p:cNvSpPr>
          <p:nvPr/>
        </p:nvSpPr>
        <p:spPr>
          <a:xfrm>
            <a:off x="1162050" y="5543550"/>
            <a:ext cx="468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Логическая модель базы данных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" y="1935816"/>
            <a:ext cx="4762500" cy="3081618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182683-C680-4A05-BC22-CCF12815E9F2}"/>
              </a:ext>
            </a:extLst>
          </p:cNvPr>
          <p:cNvSpPr>
            <a:spLocks noGrp="1"/>
          </p:cNvSpPr>
          <p:nvPr/>
        </p:nvSpPr>
        <p:spPr>
          <a:xfrm>
            <a:off x="6248400" y="1371600"/>
            <a:ext cx="4914900" cy="44577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10433C-50AA-4A68-8870-9B05954CB8DC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Поток данных в системе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474935B-4E44-46FF-B92C-3C782E592741}"/>
              </a:ext>
            </a:extLst>
          </p:cNvPr>
          <p:cNvSpPr>
            <a:spLocks noGrp="1"/>
          </p:cNvSpPr>
          <p:nvPr/>
        </p:nvSpPr>
        <p:spPr>
          <a:xfrm>
            <a:off x="6534150" y="2019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1. Пользователь регистрируется или входит по email и паролю.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ABE7152-8D45-47E4-A0BE-F96460D64844}"/>
              </a:ext>
            </a:extLst>
          </p:cNvPr>
          <p:cNvSpPr>
            <a:spLocks noGrp="1"/>
          </p:cNvSpPr>
          <p:nvPr/>
        </p:nvSpPr>
        <p:spPr>
          <a:xfrm>
            <a:off x="6534150" y="245745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2. Клиент получает профиль и сохраняет сессию в DataStore.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9EF0AAF-8A10-4F89-AA58-11F83AB41C65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3. Android-клиент вызывает REST API Ktor-сервера.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DD95182-B151-434D-85B3-8E99560B5C62}"/>
              </a:ext>
            </a:extLst>
          </p:cNvPr>
          <p:cNvSpPr>
            <a:spLocks noGrp="1"/>
          </p:cNvSpPr>
          <p:nvPr/>
        </p:nvSpPr>
        <p:spPr>
          <a:xfrm>
            <a:off x="6534150" y="333375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4. Сервер валидирует пароль по хэшу и обрабатывает бизнес-операции.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B55682-E0D7-456C-807A-FB9B1FA923BC}"/>
              </a:ext>
            </a:extLst>
          </p:cNvPr>
          <p:cNvSpPr>
            <a:spLocks noGrp="1"/>
          </p:cNvSpPr>
          <p:nvPr/>
        </p:nvSpPr>
        <p:spPr>
          <a:xfrm>
            <a:off x="6534150" y="37719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5.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Данные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вакансий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избранного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откликов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хранятся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в</a:t>
            </a:r>
            <a:r>
              <a:rPr sz="135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PostgreSQL Neon.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167B8DA-F837-46F3-AD39-3F7774DC75C7}"/>
              </a:ext>
            </a:extLst>
          </p:cNvPr>
          <p:cNvSpPr>
            <a:spLocks noGrp="1"/>
          </p:cNvSpPr>
          <p:nvPr/>
        </p:nvSpPr>
        <p:spPr>
          <a:xfrm>
            <a:off x="6534150" y="421005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6. При удалении вакансии связанные отклики и избранное удаляются каскадно.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B9C0E95-4FE1-4911-92F5-C524A9685524}"/>
              </a:ext>
            </a:extLst>
          </p:cNvPr>
          <p:cNvSpPr>
            <a:spLocks noGrp="1"/>
          </p:cNvSpPr>
          <p:nvPr/>
        </p:nvSpPr>
        <p:spPr>
          <a:xfrm>
            <a:off x="6477000" y="4762500"/>
            <a:ext cx="4191000" cy="762000"/>
          </a:xfrm>
          <a:prstGeom prst="rect">
            <a:avLst/>
          </a:prstGeom>
          <a:solidFill>
            <a:srgbClr val="F0E8F6"/>
          </a:solidFill>
          <a:ln w="14288">
            <a:solidFill>
              <a:srgbClr val="35527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BAD1FA6-53E5-4465-8869-FADBE4883F6C}"/>
              </a:ext>
            </a:extLst>
          </p:cNvPr>
          <p:cNvSpPr>
            <a:spLocks noGrp="1"/>
          </p:cNvSpPr>
          <p:nvPr/>
        </p:nvSpPr>
        <p:spPr>
          <a:xfrm>
            <a:off x="6667500" y="4871975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Такой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подход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полностью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убирает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внешние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auth-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сервисы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: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аутентификация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и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бизнес-данные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обрабатываются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во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внутреннем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контуре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82230"/>
                </a:solidFill>
                <a:latin typeface="Aptos"/>
                <a:ea typeface="Aptos"/>
                <a:cs typeface="Aptos"/>
              </a:rPr>
              <a:t>приложения</a:t>
            </a:r>
            <a:r>
              <a:rPr sz="1200" b="0" dirty="0">
                <a:solidFill>
                  <a:srgbClr val="18223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2AB3DB-605F-46EE-9775-B5A9DE8D29A6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65614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3D9EE4C-5468-4A70-BE0C-1D44C3C6BE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1436FD-D777-4F48-98F5-CB9C0803E2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FEB05D-E51A-4DB7-8A26-2AFE3FA82D50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64B832-2EE7-4CC9-9519-ACD8542B0EA2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РАЗРАБОТКА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071974-F626-4EF7-9D8F-B7A9048B7565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Пользовательский интерфейс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1B2F1D-2D6B-4E44-AF56-B7B1F331F13B}"/>
              </a:ext>
            </a:extLst>
          </p:cNvPr>
          <p:cNvSpPr>
            <a:spLocks noGrp="1"/>
          </p:cNvSpPr>
          <p:nvPr/>
        </p:nvSpPr>
        <p:spPr>
          <a:xfrm>
            <a:off x="8972552" y="647700"/>
            <a:ext cx="1981198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Jetpack Compose + Material 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9D005D-B770-4A7F-B0C2-73C8563BECD6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33D8ED-2CAD-4B4F-AD8B-FE7B1104B92C}"/>
              </a:ext>
            </a:extLst>
          </p:cNvPr>
          <p:cNvSpPr>
            <a:spLocks noGrp="1"/>
          </p:cNvSpPr>
          <p:nvPr/>
        </p:nvSpPr>
        <p:spPr>
          <a:xfrm>
            <a:off x="1028700" y="1371600"/>
            <a:ext cx="6477000" cy="45339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67E6F00-7740-4B50-A8C7-2DDFC4F52F3D}"/>
              </a:ext>
            </a:extLst>
          </p:cNvPr>
          <p:cNvSpPr>
            <a:spLocks noGrp="1"/>
          </p:cNvSpPr>
          <p:nvPr/>
        </p:nvSpPr>
        <p:spPr>
          <a:xfrm>
            <a:off x="1162050" y="5619750"/>
            <a:ext cx="6210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Ключевые экраны приложения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4218" y="1466850"/>
            <a:ext cx="5265964" cy="409575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5C49FF-19CC-4BEF-AA49-13ED2A4A7309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390900" cy="45339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EB4D10-6F7B-4F6D-BAC9-A0FAFE227E2E}"/>
              </a:ext>
            </a:extLst>
          </p:cNvPr>
          <p:cNvSpPr>
            <a:spLocks noGrp="1"/>
          </p:cNvSpPr>
          <p:nvPr/>
        </p:nvSpPr>
        <p:spPr>
          <a:xfrm>
            <a:off x="8001000" y="160020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UI-особенности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4CA235-9D20-4674-9F7C-E0B2B59E810E}"/>
              </a:ext>
            </a:extLst>
          </p:cNvPr>
          <p:cNvSpPr>
            <a:spLocks noGrp="1"/>
          </p:cNvSpPr>
          <p:nvPr/>
        </p:nvSpPr>
        <p:spPr>
          <a:xfrm>
            <a:off x="8039100" y="20193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интерфейс полностью на русском языке;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440B1A-B05F-4B35-B676-74F2AEBF8478}"/>
              </a:ext>
            </a:extLst>
          </p:cNvPr>
          <p:cNvSpPr>
            <a:spLocks noGrp="1"/>
          </p:cNvSpPr>
          <p:nvPr/>
        </p:nvSpPr>
        <p:spPr>
          <a:xfrm>
            <a:off x="8039100" y="24765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поддержка двух ролей и разных стартовых экранов;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B5C33C-A076-4C05-9071-78D0B6C89468}"/>
              </a:ext>
            </a:extLst>
          </p:cNvPr>
          <p:cNvSpPr>
            <a:spLocks noGrp="1"/>
          </p:cNvSpPr>
          <p:nvPr/>
        </p:nvSpPr>
        <p:spPr>
          <a:xfrm>
            <a:off x="8039100" y="29337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поисковая строка с очисткой и историей запросов;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9F238C-4443-4581-82B3-33BC4BD65D5C}"/>
              </a:ext>
            </a:extLst>
          </p:cNvPr>
          <p:cNvSpPr>
            <a:spLocks noGrp="1"/>
          </p:cNvSpPr>
          <p:nvPr/>
        </p:nvSpPr>
        <p:spPr>
          <a:xfrm>
            <a:off x="8039100" y="33909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плейсхолдеры для пустого результата и ошибок;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8FF6B5C-5C6A-464E-8FB9-B54F16FC7BD6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светлая и темная тема;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897CEB-862C-4A79-A416-608C8C67AF17}"/>
              </a:ext>
            </a:extLst>
          </p:cNvPr>
          <p:cNvSpPr>
            <a:spLocks noGrp="1"/>
          </p:cNvSpPr>
          <p:nvPr/>
        </p:nvSpPr>
        <p:spPr>
          <a:xfrm>
            <a:off x="8039100" y="430530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экран создания вакансии, избранное, мои отклики и отклики работодателя.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9AF9C9A-2D99-49C2-9D5F-9B50E2165788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73117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3AFF8EA-87DC-4607-9930-98A389895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D5C524-3965-4823-A880-33D5F904FA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05DEFB-6347-4D00-9147-94BCB516C9A2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78B1A8-4DF9-4DF7-8F1F-D882DC3B8F7D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B7FB43-CE2C-474A-86F5-FDC178876EAF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Реализованный функционал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70ADB1-782C-4687-8C75-EF791EF9E02B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Что работает в приложении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347A3B4-1906-4966-AD0D-7BC7210D08F9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A17F0D-097E-4FEB-B76A-90A71F5D3E20}"/>
              </a:ext>
            </a:extLst>
          </p:cNvPr>
          <p:cNvSpPr>
            <a:spLocks noGrp="1"/>
          </p:cNvSpPr>
          <p:nvPr/>
        </p:nvSpPr>
        <p:spPr>
          <a:xfrm>
            <a:off x="1028700" y="1485900"/>
            <a:ext cx="4762500" cy="148590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32A00E1-C4AB-43F8-B7DB-A4FDDB0DF8CC}"/>
              </a:ext>
            </a:extLst>
          </p:cNvPr>
          <p:cNvSpPr>
            <a:spLocks noGrp="1"/>
          </p:cNvSpPr>
          <p:nvPr/>
        </p:nvSpPr>
        <p:spPr>
          <a:xfrm>
            <a:off x="1238250" y="1657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Авторизация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2F3483E-AC7B-4493-AB11-CB4FB3150DD2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4267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собственная регистрация и вход по email/password, выбор роли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E419549-2B10-450B-8C6B-4E45F417BD91}"/>
              </a:ext>
            </a:extLst>
          </p:cNvPr>
          <p:cNvSpPr>
            <a:spLocks noGrp="1"/>
          </p:cNvSpPr>
          <p:nvPr/>
        </p:nvSpPr>
        <p:spPr>
          <a:xfrm>
            <a:off x="6096000" y="1485900"/>
            <a:ext cx="4762500" cy="14859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458B3E2-65FA-4B1F-A184-A3E9CC7074A9}"/>
              </a:ext>
            </a:extLst>
          </p:cNvPr>
          <p:cNvSpPr>
            <a:spLocks noGrp="1"/>
          </p:cNvSpPr>
          <p:nvPr/>
        </p:nvSpPr>
        <p:spPr>
          <a:xfrm>
            <a:off x="6305550" y="1657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Поиск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21789B-BC8D-42D1-BE21-25BABFC1FD97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267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поиск вакансий, история, очистка строки, состояние загрузки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113465-0117-4326-BC23-191A04623098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4762500" cy="1485900"/>
          </a:xfrm>
          <a:prstGeom prst="rect">
            <a:avLst/>
          </a:prstGeom>
          <a:solidFill>
            <a:srgbClr val="DDEFE5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1EF1D8-F9B6-4FAF-83E3-A8AC49904137}"/>
              </a:ext>
            </a:extLst>
          </p:cNvPr>
          <p:cNvSpPr>
            <a:spLocks noGrp="1"/>
          </p:cNvSpPr>
          <p:nvPr/>
        </p:nvSpPr>
        <p:spPr>
          <a:xfrm>
            <a:off x="1238250" y="3409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Соискатель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ADB5CC-DC84-48A4-9649-23DAAA44D078}"/>
              </a:ext>
            </a:extLst>
          </p:cNvPr>
          <p:cNvSpPr>
            <a:spLocks noGrp="1"/>
          </p:cNvSpPr>
          <p:nvPr/>
        </p:nvSpPr>
        <p:spPr>
          <a:xfrm>
            <a:off x="1238250" y="3790950"/>
            <a:ext cx="4267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избранное, карточка вакансии, отклик, мои отклики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8A128FE-5A19-4D78-97A9-42F69A745F66}"/>
              </a:ext>
            </a:extLst>
          </p:cNvPr>
          <p:cNvSpPr>
            <a:spLocks noGrp="1"/>
          </p:cNvSpPr>
          <p:nvPr/>
        </p:nvSpPr>
        <p:spPr>
          <a:xfrm>
            <a:off x="6096000" y="3238500"/>
            <a:ext cx="4762500" cy="1485900"/>
          </a:xfrm>
          <a:prstGeom prst="rect">
            <a:avLst/>
          </a:prstGeom>
          <a:solidFill>
            <a:srgbClr val="F5E9CF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B02AB0-CD5E-479D-B21C-07268624CD88}"/>
              </a:ext>
            </a:extLst>
          </p:cNvPr>
          <p:cNvSpPr>
            <a:spLocks noGrp="1"/>
          </p:cNvSpPr>
          <p:nvPr/>
        </p:nvSpPr>
        <p:spPr>
          <a:xfrm>
            <a:off x="6305550" y="3409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Работодатель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406483B-8060-4D5B-9CF2-06E79FEED567}"/>
              </a:ext>
            </a:extLst>
          </p:cNvPr>
          <p:cNvSpPr>
            <a:spLocks noGrp="1"/>
          </p:cNvSpPr>
          <p:nvPr/>
        </p:nvSpPr>
        <p:spPr>
          <a:xfrm>
            <a:off x="6305550" y="3790950"/>
            <a:ext cx="4267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мои вакансии, создание, редактирование, удаление, отклики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024323C-7A9E-4BCE-9FFC-8F32C9820867}"/>
              </a:ext>
            </a:extLst>
          </p:cNvPr>
          <p:cNvSpPr>
            <a:spLocks noGrp="1"/>
          </p:cNvSpPr>
          <p:nvPr/>
        </p:nvSpPr>
        <p:spPr>
          <a:xfrm>
            <a:off x="1028700" y="5143500"/>
            <a:ext cx="1524000" cy="857250"/>
          </a:xfrm>
          <a:prstGeom prst="rect">
            <a:avLst/>
          </a:prstGeom>
          <a:solidFill>
            <a:srgbClr val="DCE5F2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DABB5F4-77CE-4854-87DE-8485718C9697}"/>
              </a:ext>
            </a:extLst>
          </p:cNvPr>
          <p:cNvSpPr>
            <a:spLocks noGrp="1"/>
          </p:cNvSpPr>
          <p:nvPr/>
        </p:nvSpPr>
        <p:spPr>
          <a:xfrm>
            <a:off x="1200150" y="5314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Ktor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5438D37-6E01-46A9-8FED-DEE771F9481F}"/>
              </a:ext>
            </a:extLst>
          </p:cNvPr>
          <p:cNvSpPr>
            <a:spLocks noGrp="1"/>
          </p:cNvSpPr>
          <p:nvPr/>
        </p:nvSpPr>
        <p:spPr>
          <a:xfrm>
            <a:off x="1200150" y="56959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сервер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DD68362-2EA4-4A14-8BA6-BBF26F979FA0}"/>
              </a:ext>
            </a:extLst>
          </p:cNvPr>
          <p:cNvSpPr>
            <a:spLocks noGrp="1"/>
          </p:cNvSpPr>
          <p:nvPr/>
        </p:nvSpPr>
        <p:spPr>
          <a:xfrm>
            <a:off x="2781300" y="5143500"/>
            <a:ext cx="1524000" cy="85725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39ADB6A-59E7-4E03-87E5-B9B1DB1616F8}"/>
              </a:ext>
            </a:extLst>
          </p:cNvPr>
          <p:cNvSpPr>
            <a:spLocks noGrp="1"/>
          </p:cNvSpPr>
          <p:nvPr/>
        </p:nvSpPr>
        <p:spPr>
          <a:xfrm>
            <a:off x="2952750" y="5314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Neon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6761245-344C-4C37-87F8-49591CD8AF23}"/>
              </a:ext>
            </a:extLst>
          </p:cNvPr>
          <p:cNvSpPr>
            <a:spLocks noGrp="1"/>
          </p:cNvSpPr>
          <p:nvPr/>
        </p:nvSpPr>
        <p:spPr>
          <a:xfrm>
            <a:off x="2952750" y="56959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удаленная БД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C0CF6C2-1827-4E3E-84E7-FDE1F4D89161}"/>
              </a:ext>
            </a:extLst>
          </p:cNvPr>
          <p:cNvSpPr>
            <a:spLocks noGrp="1"/>
          </p:cNvSpPr>
          <p:nvPr/>
        </p:nvSpPr>
        <p:spPr>
          <a:xfrm>
            <a:off x="4533900" y="5143500"/>
            <a:ext cx="1524000" cy="857250"/>
          </a:xfrm>
          <a:prstGeom prst="rect">
            <a:avLst/>
          </a:prstGeom>
          <a:solidFill>
            <a:srgbClr val="DDEFE5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CCB863D-39AE-4B3F-93C2-388F571639D4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Hilt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69D6CF7-0730-4D9C-B403-DF8B91A0FBFD}"/>
              </a:ext>
            </a:extLst>
          </p:cNvPr>
          <p:cNvSpPr>
            <a:spLocks noGrp="1"/>
          </p:cNvSpPr>
          <p:nvPr/>
        </p:nvSpPr>
        <p:spPr>
          <a:xfrm>
            <a:off x="4705350" y="56959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DI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F99E947-9428-46CA-8F7A-7A231ED0BA68}"/>
              </a:ext>
            </a:extLst>
          </p:cNvPr>
          <p:cNvSpPr>
            <a:spLocks noGrp="1"/>
          </p:cNvSpPr>
          <p:nvPr/>
        </p:nvSpPr>
        <p:spPr>
          <a:xfrm>
            <a:off x="6286500" y="5143500"/>
            <a:ext cx="1524000" cy="857250"/>
          </a:xfrm>
          <a:prstGeom prst="rect">
            <a:avLst/>
          </a:prstGeom>
          <a:solidFill>
            <a:srgbClr val="F5E9CF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7461E92-58D7-4E95-9B45-2E094F6AA9A7}"/>
              </a:ext>
            </a:extLst>
          </p:cNvPr>
          <p:cNvSpPr>
            <a:spLocks noGrp="1"/>
          </p:cNvSpPr>
          <p:nvPr/>
        </p:nvSpPr>
        <p:spPr>
          <a:xfrm>
            <a:off x="6457950" y="5314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M3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2151422-2EEE-40CF-938E-F711407E98DB}"/>
              </a:ext>
            </a:extLst>
          </p:cNvPr>
          <p:cNvSpPr>
            <a:spLocks noGrp="1"/>
          </p:cNvSpPr>
          <p:nvPr/>
        </p:nvSpPr>
        <p:spPr>
          <a:xfrm>
            <a:off x="6457950" y="56959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Material UI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507A9A7-461F-486B-9D81-ACFBE2B09E42}"/>
              </a:ext>
            </a:extLst>
          </p:cNvPr>
          <p:cNvSpPr>
            <a:spLocks noGrp="1"/>
          </p:cNvSpPr>
          <p:nvPr/>
        </p:nvSpPr>
        <p:spPr>
          <a:xfrm>
            <a:off x="8039100" y="5143500"/>
            <a:ext cx="1524000" cy="8572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4A7F7A7-4E5C-4F30-AD27-7A17CEF68813}"/>
              </a:ext>
            </a:extLst>
          </p:cNvPr>
          <p:cNvSpPr>
            <a:spLocks noGrp="1"/>
          </p:cNvSpPr>
          <p:nvPr/>
        </p:nvSpPr>
        <p:spPr>
          <a:xfrm>
            <a:off x="8210550" y="5314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33D8E22-695E-42F3-A7FA-CDA2DD880B2E}"/>
              </a:ext>
            </a:extLst>
          </p:cNvPr>
          <p:cNvSpPr>
            <a:spLocks noGrp="1"/>
          </p:cNvSpPr>
          <p:nvPr/>
        </p:nvSpPr>
        <p:spPr>
          <a:xfrm>
            <a:off x="8210550" y="56959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роли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C549745-49D0-4F49-9C92-E42B7CE194C7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175678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65F88C6-1A5E-4753-BFA9-95FA8E3B9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F00EA5-02E7-4A8C-99BB-F915CAED33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FAC4CD1-3CDF-41B6-8D22-4BAE6BD0B049}"/>
              </a:ext>
            </a:extLst>
          </p:cNvPr>
          <p:cNvSpPr>
            <a:spLocks noGrp="1"/>
          </p:cNvSpPr>
          <p:nvPr/>
        </p:nvSpPr>
        <p:spPr>
          <a:xfrm>
            <a:off x="914400" y="323850"/>
            <a:ext cx="10801350" cy="7048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0B974-914E-4F44-B22C-4C7A39DD1FBC}"/>
              </a:ext>
            </a:extLst>
          </p:cNvPr>
          <p:cNvSpPr>
            <a:spLocks noGrp="1"/>
          </p:cNvSpPr>
          <p:nvPr/>
        </p:nvSpPr>
        <p:spPr>
          <a:xfrm>
            <a:off x="11239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5C4601-113D-4602-852F-6E8E8C5A8EA7}"/>
              </a:ext>
            </a:extLst>
          </p:cNvPr>
          <p:cNvSpPr>
            <a:spLocks noGrp="1"/>
          </p:cNvSpPr>
          <p:nvPr/>
        </p:nvSpPr>
        <p:spPr>
          <a:xfrm>
            <a:off x="1123950" y="64770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Тестирование и проверка работоспособности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20F41B-CFBE-4D81-BD8E-5D7746BFA4BE}"/>
              </a:ext>
            </a:extLst>
          </p:cNvPr>
          <p:cNvSpPr>
            <a:spLocks noGrp="1"/>
          </p:cNvSpPr>
          <p:nvPr/>
        </p:nvSpPr>
        <p:spPr>
          <a:xfrm>
            <a:off x="9239250" y="62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Контроль качества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DBD414-3A2C-4B46-9E8C-FFD17DF4AD3B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453B49-64B4-4024-8E3B-BC6ED559B621}"/>
              </a:ext>
            </a:extLst>
          </p:cNvPr>
          <p:cNvSpPr>
            <a:spLocks noGrp="1"/>
          </p:cNvSpPr>
          <p:nvPr/>
        </p:nvSpPr>
        <p:spPr>
          <a:xfrm>
            <a:off x="1028700" y="1390650"/>
            <a:ext cx="5143500" cy="447675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98AAB5-3DD0-4FC3-BC35-52B44ED4E469}"/>
              </a:ext>
            </a:extLst>
          </p:cNvPr>
          <p:cNvSpPr>
            <a:spLocks noGrp="1"/>
          </p:cNvSpPr>
          <p:nvPr/>
        </p:nvSpPr>
        <p:spPr>
          <a:xfrm>
            <a:off x="1257300" y="16192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Что проверялось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541410-7C99-476D-8F90-EA11B138B1A5}"/>
              </a:ext>
            </a:extLst>
          </p:cNvPr>
          <p:cNvSpPr>
            <a:spLocks noGrp="1"/>
          </p:cNvSpPr>
          <p:nvPr/>
        </p:nvSpPr>
        <p:spPr>
          <a:xfrm>
            <a:off x="1314450" y="203835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сборка клиентской части и серверного модуля;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A2E41BE-8F77-416D-B8A5-51143ED94496}"/>
              </a:ext>
            </a:extLst>
          </p:cNvPr>
          <p:cNvSpPr>
            <a:spLocks noGrp="1"/>
          </p:cNvSpPr>
          <p:nvPr/>
        </p:nvSpPr>
        <p:spPr>
          <a:xfrm>
            <a:off x="1314450" y="251460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модульные тесты Android-клиента;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0E1A0EE-2F96-493F-A939-31F0C4256DBF}"/>
              </a:ext>
            </a:extLst>
          </p:cNvPr>
          <p:cNvSpPr>
            <a:spLocks noGrp="1"/>
          </p:cNvSpPr>
          <p:nvPr/>
        </p:nvSpPr>
        <p:spPr>
          <a:xfrm>
            <a:off x="1314450" y="299085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тесты Ktor-маршрутов сервера;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F33C50-FFC1-4A37-8A16-8D3C496D3185}"/>
              </a:ext>
            </a:extLst>
          </p:cNvPr>
          <p:cNvSpPr>
            <a:spLocks noGrp="1"/>
          </p:cNvSpPr>
          <p:nvPr/>
        </p:nvSpPr>
        <p:spPr>
          <a:xfrm>
            <a:off x="1314450" y="346710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проверка сценариев регистрации и входа;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779C6B-8FAE-44D7-85C4-EAECD4A3EC9D}"/>
              </a:ext>
            </a:extLst>
          </p:cNvPr>
          <p:cNvSpPr>
            <a:spLocks noGrp="1"/>
          </p:cNvSpPr>
          <p:nvPr/>
        </p:nvSpPr>
        <p:spPr>
          <a:xfrm>
            <a:off x="1314450" y="394335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сквозной сценарий: создание вакансии → поиск → отклик → просмотр откликов;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3E13B5-BB7E-4E0B-9B4D-8850A802D813}"/>
              </a:ext>
            </a:extLst>
          </p:cNvPr>
          <p:cNvSpPr>
            <a:spLocks noGrp="1"/>
          </p:cNvSpPr>
          <p:nvPr/>
        </p:nvSpPr>
        <p:spPr>
          <a:xfrm>
            <a:off x="1314450" y="441960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каскадное удаление вакансии вместе с откликами и избранным.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884C72B-965A-48B0-908B-561937C65757}"/>
              </a:ext>
            </a:extLst>
          </p:cNvPr>
          <p:cNvSpPr>
            <a:spLocks noGrp="1"/>
          </p:cNvSpPr>
          <p:nvPr/>
        </p:nvSpPr>
        <p:spPr>
          <a:xfrm>
            <a:off x="6438900" y="1390650"/>
            <a:ext cx="4724400" cy="447675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8DC393D-D1EF-4DD9-B11A-140349C3145E}"/>
              </a:ext>
            </a:extLst>
          </p:cNvPr>
          <p:cNvSpPr>
            <a:spLocks noGrp="1"/>
          </p:cNvSpPr>
          <p:nvPr/>
        </p:nvSpPr>
        <p:spPr>
          <a:xfrm>
            <a:off x="6686550" y="1695450"/>
            <a:ext cx="1981200" cy="1028700"/>
          </a:xfrm>
          <a:prstGeom prst="rect">
            <a:avLst/>
          </a:prstGeom>
          <a:solidFill>
            <a:srgbClr val="DDEFE5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3F432D9-5633-47CA-BE97-9A8D122B16EC}"/>
              </a:ext>
            </a:extLst>
          </p:cNvPr>
          <p:cNvSpPr>
            <a:spLocks noGrp="1"/>
          </p:cNvSpPr>
          <p:nvPr/>
        </p:nvSpPr>
        <p:spPr>
          <a:xfrm>
            <a:off x="6858000" y="186690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E2E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EB2D801-E670-47DF-AA02-C612B3BB3F13}"/>
              </a:ext>
            </a:extLst>
          </p:cNvPr>
          <p:cNvSpPr>
            <a:spLocks noGrp="1"/>
          </p:cNvSpPr>
          <p:nvPr/>
        </p:nvSpPr>
        <p:spPr>
          <a:xfrm>
            <a:off x="6858000" y="224790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сквозной сценарий успешно пройден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877207A-16C1-42D5-B1F9-7475D23BA344}"/>
              </a:ext>
            </a:extLst>
          </p:cNvPr>
          <p:cNvSpPr>
            <a:spLocks noGrp="1"/>
          </p:cNvSpPr>
          <p:nvPr/>
        </p:nvSpPr>
        <p:spPr>
          <a:xfrm>
            <a:off x="8877300" y="1695450"/>
            <a:ext cx="1981200" cy="1028700"/>
          </a:xfrm>
          <a:prstGeom prst="rect">
            <a:avLst/>
          </a:prstGeom>
          <a:solidFill>
            <a:srgbClr val="F5E9CF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216D315-FF52-439B-BF70-D0927F2014D9}"/>
              </a:ext>
            </a:extLst>
          </p:cNvPr>
          <p:cNvSpPr>
            <a:spLocks noGrp="1"/>
          </p:cNvSpPr>
          <p:nvPr/>
        </p:nvSpPr>
        <p:spPr>
          <a:xfrm>
            <a:off x="9048750" y="186690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404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FBB60-C3C7-4D89-8ABB-96E95906B40F}"/>
              </a:ext>
            </a:extLst>
          </p:cNvPr>
          <p:cNvSpPr>
            <a:spLocks noGrp="1"/>
          </p:cNvSpPr>
          <p:nvPr/>
        </p:nvSpPr>
        <p:spPr>
          <a:xfrm>
            <a:off x="9048750" y="215530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удаленная</a:t>
            </a:r>
            <a:r>
              <a:rPr sz="12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вакансия</a:t>
            </a:r>
            <a:r>
              <a:rPr sz="12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недоступна</a:t>
            </a:r>
            <a:r>
              <a:rPr sz="12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после</a:t>
            </a:r>
            <a:r>
              <a:rPr sz="1200" b="0" dirty="0">
                <a:solidFill>
                  <a:srgbClr val="516073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16073"/>
                </a:solidFill>
                <a:latin typeface="Aptos"/>
                <a:ea typeface="Aptos"/>
                <a:cs typeface="Aptos"/>
              </a:rPr>
              <a:t>удаления</a:t>
            </a:r>
            <a:endParaRPr sz="1200" b="0" dirty="0">
              <a:solidFill>
                <a:srgbClr val="5160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7EC4856-D0A7-40CC-AEE9-C2926DD9E1AB}"/>
              </a:ext>
            </a:extLst>
          </p:cNvPr>
          <p:cNvSpPr>
            <a:spLocks noGrp="1"/>
          </p:cNvSpPr>
          <p:nvPr/>
        </p:nvSpPr>
        <p:spPr>
          <a:xfrm>
            <a:off x="6686550" y="2895600"/>
            <a:ext cx="1981200" cy="1028700"/>
          </a:xfrm>
          <a:prstGeom prst="rect">
            <a:avLst/>
          </a:prstGeom>
          <a:solidFill>
            <a:srgbClr val="FFFDFC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AEF284A-55ED-45B6-9567-484CA5E04AE6}"/>
              </a:ext>
            </a:extLst>
          </p:cNvPr>
          <p:cNvSpPr>
            <a:spLocks noGrp="1"/>
          </p:cNvSpPr>
          <p:nvPr/>
        </p:nvSpPr>
        <p:spPr>
          <a:xfrm>
            <a:off x="6858000" y="306705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[]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0F59C49-449E-4460-9905-454202A23062}"/>
              </a:ext>
            </a:extLst>
          </p:cNvPr>
          <p:cNvSpPr>
            <a:spLocks noGrp="1"/>
          </p:cNvSpPr>
          <p:nvPr/>
        </p:nvSpPr>
        <p:spPr>
          <a:xfrm>
            <a:off x="6858000" y="344805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список откликов очищается каскадно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3B421E3-C7DF-4FE8-9607-5D4E144018EB}"/>
              </a:ext>
            </a:extLst>
          </p:cNvPr>
          <p:cNvSpPr>
            <a:spLocks noGrp="1"/>
          </p:cNvSpPr>
          <p:nvPr/>
        </p:nvSpPr>
        <p:spPr>
          <a:xfrm>
            <a:off x="8877300" y="2895600"/>
            <a:ext cx="1981200" cy="1028700"/>
          </a:xfrm>
          <a:prstGeom prst="rect">
            <a:avLst/>
          </a:prstGeom>
          <a:solidFill>
            <a:srgbClr val="DCE5F2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951DE97-368C-4B3B-8922-0AE1E6B094CE}"/>
              </a:ext>
            </a:extLst>
          </p:cNvPr>
          <p:cNvSpPr>
            <a:spLocks noGrp="1"/>
          </p:cNvSpPr>
          <p:nvPr/>
        </p:nvSpPr>
        <p:spPr>
          <a:xfrm>
            <a:off x="9048750" y="306705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13F68"/>
                </a:solidFill>
                <a:latin typeface="Aptos Display"/>
                <a:ea typeface="Aptos Display"/>
                <a:cs typeface="Aptos Display"/>
              </a:rPr>
              <a:t>OK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17F8FD6-56CB-4FE6-81E3-279566C36067}"/>
              </a:ext>
            </a:extLst>
          </p:cNvPr>
          <p:cNvSpPr>
            <a:spLocks noGrp="1"/>
          </p:cNvSpPr>
          <p:nvPr/>
        </p:nvSpPr>
        <p:spPr>
          <a:xfrm>
            <a:off x="9048750" y="344805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связка Client + Ktor + Neon работает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9272A-29D9-4D07-8641-91073ADF770C}"/>
              </a:ext>
            </a:extLst>
          </p:cNvPr>
          <p:cNvSpPr>
            <a:spLocks noGrp="1"/>
          </p:cNvSpPr>
          <p:nvPr/>
        </p:nvSpPr>
        <p:spPr>
          <a:xfrm>
            <a:off x="6705600" y="4248150"/>
            <a:ext cx="41338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Результат тестирования показал, что приложение стабильно выполняет основные пользовательские сценарии, корректно обрабатывает запросы к серверу и сохраняет данные в удаленной БД.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C1B354B-727F-4D63-9D70-4F0D028FE21B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Курсовая работа по дисциплине «Разработка клиент-серверных мобильных приложений»</a:t>
            </a:r>
          </a:p>
        </p:txBody>
      </p:sp>
    </p:spTree>
    <p:extLst>
      <p:ext uri="{BB962C8B-B14F-4D97-AF65-F5344CB8AC3E}">
        <p14:creationId xmlns:p14="http://schemas.microsoft.com/office/powerpoint/2010/main" val="128407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F9179B-03B7-4598-B2A5-17E87E657F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F68"/>
          </a:solidFill>
          <a:ln w="0">
            <a:solidFill>
              <a:srgbClr val="213F68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AD7488-6B35-4DFB-9AF8-1842433BBA15}"/>
              </a:ext>
            </a:extLst>
          </p:cNvPr>
          <p:cNvSpPr>
            <a:spLocks noGrp="1"/>
          </p:cNvSpPr>
          <p:nvPr/>
        </p:nvSpPr>
        <p:spPr>
          <a:xfrm>
            <a:off x="1123950" y="876300"/>
            <a:ext cx="9944100" cy="50673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135AE0-B583-48B9-B106-F7C475BF0497}"/>
              </a:ext>
            </a:extLst>
          </p:cNvPr>
          <p:cNvSpPr>
            <a:spLocks noGrp="1"/>
          </p:cNvSpPr>
          <p:nvPr/>
        </p:nvSpPr>
        <p:spPr>
          <a:xfrm>
            <a:off x="1600200" y="1295400"/>
            <a:ext cx="899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230"/>
                </a:solidFill>
                <a:latin typeface="Aptos Display"/>
                <a:ea typeface="Aptos Display"/>
                <a:cs typeface="Aptos Display"/>
              </a:rPr>
              <a:t>Итоги курсовой работы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A8E970-44F9-41A8-91DF-89ACC4334182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разработано клиент-серверное мобильное приложение сервиса подбора персонала;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93ECC2-F889-4C18-BC77-10F821C4A782}"/>
              </a:ext>
            </a:extLst>
          </p:cNvPr>
          <p:cNvSpPr>
            <a:spLocks noGrp="1"/>
          </p:cNvSpPr>
          <p:nvPr/>
        </p:nvSpPr>
        <p:spPr>
          <a:xfrm>
            <a:off x="2000250" y="25527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реализованы две роли пользователей: соискатель и работодатель;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785AAC-18E1-4DC1-A3C7-4799427CD018}"/>
              </a:ext>
            </a:extLst>
          </p:cNvPr>
          <p:cNvSpPr>
            <a:spLocks noGrp="1"/>
          </p:cNvSpPr>
          <p:nvPr/>
        </p:nvSpPr>
        <p:spPr>
          <a:xfrm>
            <a:off x="2000250" y="30099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создан собственный сервер на Ktor и удаленная БД PostgreSQL Neon;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2B8063-FDDF-446B-8350-8F38AC80E4F9}"/>
              </a:ext>
            </a:extLst>
          </p:cNvPr>
          <p:cNvSpPr>
            <a:spLocks noGrp="1"/>
          </p:cNvSpPr>
          <p:nvPr/>
        </p:nvSpPr>
        <p:spPr>
          <a:xfrm>
            <a:off x="2000250" y="34671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клиент построен на Jetpack Compose, Retrofit и Hilt;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CC1C03-A4CD-44FA-908D-8E7ECF21F442}"/>
              </a:ext>
            </a:extLst>
          </p:cNvPr>
          <p:cNvSpPr>
            <a:spLocks noGrp="1"/>
          </p:cNvSpPr>
          <p:nvPr/>
        </p:nvSpPr>
        <p:spPr>
          <a:xfrm>
            <a:off x="2000250" y="3924300"/>
            <a:ext cx="819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822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30"/>
                </a:solidFill>
                <a:latin typeface="Aptos"/>
                <a:ea typeface="Aptos"/>
                <a:cs typeface="Aptos"/>
              </a:rPr>
              <a:t>• подготовлены отчет, документация и публичные репозитории проекта.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468B28B-3AEF-4012-8E0C-EE0FE9F4BFE7}"/>
              </a:ext>
            </a:extLst>
          </p:cNvPr>
          <p:cNvSpPr>
            <a:spLocks noGrp="1"/>
          </p:cNvSpPr>
          <p:nvPr/>
        </p:nvSpPr>
        <p:spPr>
          <a:xfrm>
            <a:off x="1905000" y="4724400"/>
            <a:ext cx="8382000" cy="723900"/>
          </a:xfrm>
          <a:prstGeom prst="rect">
            <a:avLst/>
          </a:prstGeom>
          <a:solidFill>
            <a:srgbClr val="F0E8F6"/>
          </a:solidFill>
          <a:ln w="19050">
            <a:solidFill>
              <a:srgbClr val="35527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C334AE5-CC6C-4777-B454-50433AEB63F2}"/>
              </a:ext>
            </a:extLst>
          </p:cNvPr>
          <p:cNvSpPr>
            <a:spLocks noGrp="1"/>
          </p:cNvSpPr>
          <p:nvPr/>
        </p:nvSpPr>
        <p:spPr>
          <a:xfrm>
            <a:off x="2171700" y="4953000"/>
            <a:ext cx="784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3F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3F68"/>
                </a:solidFill>
                <a:latin typeface="Aptos"/>
                <a:ea typeface="Aptos"/>
                <a:cs typeface="Aptos"/>
              </a:rPr>
              <a:t>Репозитории: My_Personality_Client • My_Personality_Server • My_Personality_Docs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42BC6D-4B18-4B68-B59D-E23D9C78C1D9}"/>
              </a:ext>
            </a:extLst>
          </p:cNvPr>
          <p:cNvSpPr>
            <a:spLocks noGrp="1"/>
          </p:cNvSpPr>
          <p:nvPr/>
        </p:nvSpPr>
        <p:spPr>
          <a:xfrm>
            <a:off x="2933700" y="5972296"/>
            <a:ext cx="632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Спасибо</a:t>
            </a:r>
            <a:r>
              <a:rPr sz="22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за</a:t>
            </a:r>
            <a:r>
              <a:rPr sz="22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5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внимание</a:t>
            </a:r>
            <a:endParaRPr sz="22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64FC53-F971-4A36-8CD8-608F78857970}"/>
              </a:ext>
            </a:extLst>
          </p:cNvPr>
          <p:cNvSpPr>
            <a:spLocks noGrp="1"/>
          </p:cNvSpPr>
          <p:nvPr/>
        </p:nvSpPr>
        <p:spPr>
          <a:xfrm>
            <a:off x="1028700" y="6381750"/>
            <a:ext cx="914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16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73"/>
                </a:solidFill>
                <a:latin typeface="Aptos"/>
                <a:ea typeface="Aptos"/>
                <a:cs typeface="Aptos"/>
              </a:rPr>
              <a:t>Готово к демонстрации: клиент, сервер, база данных, тестовые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17936027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</Words>
  <Application>Microsoft Macintosh PowerPoint</Application>
  <DocSecurity>0</DocSecurity>
  <PresentationFormat>Широкоэкранный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Woonze</cp:lastModifiedBy>
  <cp:revision>1</cp:revision>
  <dcterms:created xsi:type="dcterms:W3CDTF">2026-05-30T14:55:07Z</dcterms:created>
  <dcterms:modified xsi:type="dcterms:W3CDTF">2026-05-30T16:12:52Z</dcterms:modified>
</cp:coreProperties>
</file>